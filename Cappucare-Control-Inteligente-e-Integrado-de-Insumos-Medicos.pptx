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1675"/>
  <p:notesSz cx="6858000" cy="12191675"/>
  <p:embeddedFontLst>
    <p:embeddedFont>
      <p:font typeface="Parkinsans"/>
      <p:bold r:id="rId9"/>
    </p:embeddedFont>
    <p:embeddedFont>
      <p:font typeface="Atkinson Hyperlegible Next SemiBold"/>
      <p:regular r:id="rId10"/>
      <p:bold r:id="rId11"/>
      <p:italic r:id="rId12"/>
      <p:boldItalic r:id="rId13"/>
    </p:embeddedFont>
    <p:embeddedFont>
      <p:font typeface="Atkinson Hyperlegible Nex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tkinsonHyperlegibleNextSemiBold-bold.fntdata"/><Relationship Id="rId10" Type="http://schemas.openxmlformats.org/officeDocument/2006/relationships/font" Target="fonts/AtkinsonHyperlegibleNextSemiBold-regular.fntdata"/><Relationship Id="rId13" Type="http://schemas.openxmlformats.org/officeDocument/2006/relationships/font" Target="fonts/AtkinsonHyperlegibleNextSemiBold-boldItalic.fntdata"/><Relationship Id="rId12" Type="http://schemas.openxmlformats.org/officeDocument/2006/relationships/font" Target="fonts/AtkinsonHyperlegibleNext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arkinsans-bold.fntdata"/><Relationship Id="rId15" Type="http://schemas.openxmlformats.org/officeDocument/2006/relationships/font" Target="fonts/AtkinsonHyperlegibleNext-bold.fntdata"/><Relationship Id="rId14" Type="http://schemas.openxmlformats.org/officeDocument/2006/relationships/font" Target="fonts/AtkinsonHyperlegibleNext-regular.fntdata"/><Relationship Id="rId17" Type="http://schemas.openxmlformats.org/officeDocument/2006/relationships/font" Target="fonts/AtkinsonHyperlegibleNext-boldItalic.fntdata"/><Relationship Id="rId16" Type="http://schemas.openxmlformats.org/officeDocument/2006/relationships/font" Target="fonts/AtkinsonHyperlegibleNex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7F8F5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711182" y="1877179"/>
            <a:ext cx="6222844" cy="777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6000"/>
              <a:buFont typeface="Parkinsans"/>
              <a:buNone/>
            </a:pPr>
            <a:r>
              <a:rPr b="1" i="0" lang="en-US" sz="60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Cappucare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11182" y="2806125"/>
            <a:ext cx="6222844" cy="82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3000"/>
              <a:buFont typeface="Parkinsans"/>
              <a:buNone/>
            </a:pPr>
            <a:r>
              <a:rPr b="1" i="0" lang="en-US" sz="30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Control Inteligente e Integrado de Insumos Médicos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711182" y="3814465"/>
            <a:ext cx="6222844" cy="60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1F3B36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Evaluación Parcial 3 - DSY1105 Desarrollo de Aplicaciones Móviles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711182" y="5563295"/>
            <a:ext cx="6603835" cy="302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1F3B36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Presentado por: Ignacio Torres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11182" y="6059190"/>
            <a:ext cx="6603835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534E"/>
              </a:buClr>
              <a:buSzPts val="1400"/>
              <a:buFont typeface="Atkinson Hyperlegible Next"/>
              <a:buNone/>
            </a:pPr>
            <a:r>
              <a:rPr b="0" i="0" lang="en-US" sz="1400" u="none" cap="none" strike="noStrike">
                <a:solidFill>
                  <a:srgbClr val="3D534E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Duoc UC - Escuela de Informática y Telecomunicaciones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315017" y="0"/>
            <a:ext cx="4876678" cy="6858000"/>
          </a:xfrm>
          <a:custGeom>
            <a:rect b="b" l="l" r="r" t="t"/>
            <a:pathLst>
              <a:path extrusionOk="0" h="6858000" w="4876678">
                <a:moveTo>
                  <a:pt x="2243272" y="0"/>
                </a:moveTo>
                <a:lnTo>
                  <a:pt x="4876678" y="0"/>
                </a:lnTo>
                <a:lnTo>
                  <a:pt x="4876678" y="6858000"/>
                </a:lnTo>
                <a:lnTo>
                  <a:pt x="2438339" y="6858000"/>
                </a:lnTo>
                <a:cubicBezTo>
                  <a:pt x="1091682" y="6858000"/>
                  <a:pt x="0" y="5766291"/>
                  <a:pt x="0" y="4419600"/>
                </a:cubicBezTo>
                <a:lnTo>
                  <a:pt x="0" y="2243328"/>
                </a:lnTo>
                <a:cubicBezTo>
                  <a:pt x="0" y="1004372"/>
                  <a:pt x="1004347" y="0"/>
                  <a:pt x="2243272" y="0"/>
                </a:cubicBezTo>
                <a:close/>
              </a:path>
            </a:pathLst>
          </a:cu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6007" y="558800"/>
            <a:ext cx="4114697" cy="57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609585" y="541147"/>
            <a:ext cx="10972526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3200"/>
              <a:buFont typeface="Parkinsans"/>
              <a:buNone/>
            </a:pPr>
            <a:r>
              <a:rPr b="1" i="0" lang="en-US" sz="32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Sin visibilidad del inventario,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3200"/>
              <a:buFont typeface="Parkinsans"/>
              <a:buNone/>
            </a:pPr>
            <a:r>
              <a:rPr b="1" i="0" lang="en-US" sz="32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se pierde tiempo y dinero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85" y="1601589"/>
            <a:ext cx="4206075" cy="418266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609585" y="5869980"/>
            <a:ext cx="4206075" cy="4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534E"/>
              </a:buClr>
              <a:buSzPts val="1400"/>
              <a:buFont typeface="Atkinson Hyperlegible Next"/>
              <a:buNone/>
            </a:pPr>
            <a:r>
              <a:rPr b="0" i="0" lang="en-US" sz="1400" u="none" cap="none" strike="noStrike">
                <a:solidFill>
                  <a:srgbClr val="3D534E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Cappucare, comercializadora de productos e insumos médicos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5272749" y="1601589"/>
            <a:ext cx="6309361" cy="2372916"/>
          </a:xfrm>
          <a:prstGeom prst="rect">
            <a:avLst/>
          </a:prstGeom>
          <a:solidFill>
            <a:srgbClr val="FC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5577542" y="1860034"/>
            <a:ext cx="569977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7A64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5A7A64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Procesos manuales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577542" y="2374305"/>
            <a:ext cx="5699776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Falta de visibilidad del inventario en tiempo real, descuadres de existencias y quiebres de stock no detectados a tiempo.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272749" y="4279305"/>
            <a:ext cx="6309361" cy="2070695"/>
          </a:xfrm>
          <a:prstGeom prst="rect">
            <a:avLst/>
          </a:pr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5577542" y="4537750"/>
            <a:ext cx="569977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A63A2B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A63A2B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Impacto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577542" y="5052020"/>
            <a:ext cx="5699776" cy="60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A63A2B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A63A2B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Demoras en atención a clínicas y compras innecesarias de insumos.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5" title="Captura de pantalla 2026-10-25 1336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1825" y="6559875"/>
            <a:ext cx="2209844" cy="236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609585" y="515747"/>
            <a:ext cx="10972526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3200"/>
              <a:buFont typeface="Parkinsans"/>
              <a:buNone/>
            </a:pPr>
            <a:r>
              <a:rPr b="1" i="0" lang="en-US" sz="32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Solución: app Android nativa,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3200"/>
              <a:buFont typeface="Parkinsans"/>
              <a:buNone/>
            </a:pPr>
            <a:r>
              <a:rPr b="1" i="0" lang="en-US" sz="32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reactiva y 100% offline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609585" y="1576189"/>
            <a:ext cx="6309262" cy="1199952"/>
          </a:xfrm>
          <a:prstGeom prst="rect">
            <a:avLst/>
          </a:pr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578" y="1728625"/>
            <a:ext cx="431789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1511262" y="1733034"/>
            <a:ext cx="5153591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Compose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1511262" y="2247305"/>
            <a:ext cx="5407584" cy="302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Jetpack Compose y Material 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609585" y="2928541"/>
            <a:ext cx="6309262" cy="1199952"/>
          </a:xfrm>
          <a:prstGeom prst="rect">
            <a:avLst/>
          </a:prstGeom>
          <a:solidFill>
            <a:srgbClr val="FC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78" y="3080976"/>
            <a:ext cx="431789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1511262" y="3085386"/>
            <a:ext cx="5153591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ViewModel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511262" y="3599656"/>
            <a:ext cx="5407584" cy="302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Patrón MVVM · reactividad StateFlow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09585" y="4280892"/>
            <a:ext cx="6309262" cy="742156"/>
          </a:xfrm>
          <a:prstGeom prst="rect">
            <a:avLst/>
          </a:pr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578" y="4433328"/>
            <a:ext cx="431789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1511262" y="4437737"/>
            <a:ext cx="5153591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Repositorio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9585" y="5175448"/>
            <a:ext cx="6309262" cy="1199952"/>
          </a:xfrm>
          <a:prstGeom prst="rect">
            <a:avLst/>
          </a:prstGeom>
          <a:solidFill>
            <a:srgbClr val="FC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578" y="5327884"/>
            <a:ext cx="431789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/>
          <p:nvPr/>
        </p:nvSpPr>
        <p:spPr>
          <a:xfrm>
            <a:off x="1511262" y="5332294"/>
            <a:ext cx="5153591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Room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511262" y="5846564"/>
            <a:ext cx="5407584" cy="302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Persistencia local · SQLite mediante Room Database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75936" y="1576189"/>
            <a:ext cx="4206174" cy="4799211"/>
          </a:xfrm>
          <a:prstGeom prst="rect">
            <a:avLst/>
          </a:pr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7680728" y="1834634"/>
            <a:ext cx="3596590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A7A64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5A7A64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Recursos nativos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0728" y="3083024"/>
            <a:ext cx="215895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7680728" y="3425924"/>
            <a:ext cx="3596590" cy="60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Notificaciones locales del sistema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(NotificationManager)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0728" y="4284365"/>
            <a:ext cx="215895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7680728" y="4627265"/>
            <a:ext cx="3596590" cy="604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Vibración háptica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tkinson Hyperlegible Next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(VibratorManager)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179275" y="6379077"/>
            <a:ext cx="1972350" cy="4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711182" y="566547"/>
            <a:ext cx="6603835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3200"/>
              <a:buFont typeface="Parkinsans"/>
              <a:buNone/>
            </a:pPr>
            <a:r>
              <a:rPr b="1" i="0" lang="en-US" sz="3200" u="none" cap="none" strike="noStrike">
                <a:solidFill>
                  <a:srgbClr val="2C4C38"/>
                </a:solidFill>
                <a:latin typeface="Parkinsans"/>
                <a:ea typeface="Parkinsans"/>
                <a:cs typeface="Parkinsans"/>
                <a:sym typeface="Parkinsans"/>
              </a:rPr>
              <a:t>Demostración Operativa en Vivo en Emulador Android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11182" y="1626989"/>
            <a:ext cx="6603835" cy="868561"/>
          </a:xfrm>
          <a:prstGeom prst="rect">
            <a:avLst/>
          </a:prstGeom>
          <a:solidFill>
            <a:srgbClr val="FC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939776" y="1793677"/>
            <a:ext cx="377816" cy="377825"/>
          </a:xfrm>
          <a:prstGeom prst="ellipse">
            <a:avLst/>
          </a:prstGeom>
          <a:solidFill>
            <a:srgbClr val="C8E3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1082251" y="1874639"/>
            <a:ext cx="702451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Atkinson Hyperlegible Next SemiBold"/>
              <a:buNone/>
            </a:pPr>
            <a:r>
              <a:rPr b="0" i="0" lang="en-US" sz="1700" u="none" cap="none" strike="noStrike">
                <a:solidFill>
                  <a:srgbClr val="1F3B36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533487" y="1783834"/>
            <a:ext cx="555293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Catálogo y barras de stock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711182" y="2800350"/>
            <a:ext cx="6603835" cy="1202730"/>
          </a:xfrm>
          <a:prstGeom prst="rect">
            <a:avLst/>
          </a:pr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939776" y="2967037"/>
            <a:ext cx="377816" cy="377825"/>
          </a:xfrm>
          <a:prstGeom prst="ellipse">
            <a:avLst/>
          </a:prstGeom>
          <a:solidFill>
            <a:srgbClr val="C8E3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1067170" y="3048000"/>
            <a:ext cx="732514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Atkinson Hyperlegible Next SemiBold"/>
              <a:buNone/>
            </a:pPr>
            <a:r>
              <a:rPr b="0" i="0" lang="en-US" sz="1700" u="none" cap="none" strike="noStrike">
                <a:solidFill>
                  <a:srgbClr val="1F3B36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533487" y="2957195"/>
            <a:ext cx="5552936" cy="726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Registro de recepción/venta con selector elástico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11182" y="4307880"/>
            <a:ext cx="6603835" cy="868660"/>
          </a:xfrm>
          <a:prstGeom prst="rect">
            <a:avLst/>
          </a:prstGeom>
          <a:solidFill>
            <a:srgbClr val="FCFD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939776" y="4474567"/>
            <a:ext cx="377816" cy="377825"/>
          </a:xfrm>
          <a:prstGeom prst="ellipse">
            <a:avLst/>
          </a:prstGeom>
          <a:solidFill>
            <a:srgbClr val="C8E3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1064690" y="4555530"/>
            <a:ext cx="73747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Atkinson Hyperlegible Next SemiBold"/>
              <a:buNone/>
            </a:pPr>
            <a:r>
              <a:rPr b="0" i="0" lang="en-US" sz="1700" u="none" cap="none" strike="noStrike">
                <a:solidFill>
                  <a:srgbClr val="1F3B36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533487" y="4464725"/>
            <a:ext cx="555293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Validaciones de formulario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711182" y="5481340"/>
            <a:ext cx="6603835" cy="868660"/>
          </a:xfrm>
          <a:prstGeom prst="rect">
            <a:avLst/>
          </a:pr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939776" y="5648027"/>
            <a:ext cx="377816" cy="377825"/>
          </a:xfrm>
          <a:prstGeom prst="ellipse">
            <a:avLst/>
          </a:prstGeom>
          <a:solidFill>
            <a:srgbClr val="C8E3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061614" y="5728990"/>
            <a:ext cx="743725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Atkinson Hyperlegible Next SemiBold"/>
              <a:buNone/>
            </a:pPr>
            <a:r>
              <a:rPr b="0" i="0" lang="en-US" sz="1700" u="none" cap="none" strike="noStrike">
                <a:solidFill>
                  <a:srgbClr val="1F3B36"/>
                </a:solidFill>
                <a:latin typeface="Atkinson Hyperlegible Next SemiBold"/>
                <a:ea typeface="Atkinson Hyperlegible Next SemiBold"/>
                <a:cs typeface="Atkinson Hyperlegible Next SemiBold"/>
                <a:sym typeface="Atkinson Hyperlegible Next SemiBold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533487" y="5638185"/>
            <a:ext cx="5552936" cy="363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C4C38"/>
              </a:buClr>
              <a:buSzPts val="2200"/>
              <a:buFont typeface="Atkinson Hyperlegible Next"/>
              <a:buNone/>
            </a:pPr>
            <a:r>
              <a:rPr b="1" i="0" lang="en-US" sz="2200" u="none" cap="none" strike="noStrike">
                <a:solidFill>
                  <a:srgbClr val="2C4C38"/>
                </a:solidFill>
                <a:latin typeface="Atkinson Hyperlegible Next"/>
                <a:ea typeface="Atkinson Hyperlegible Next"/>
                <a:cs typeface="Atkinson Hyperlegible Next"/>
                <a:sym typeface="Atkinson Hyperlegible Next"/>
              </a:rPr>
              <a:t>Doble confirmación de borrado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7721407" y="0"/>
            <a:ext cx="4470288" cy="6858000"/>
          </a:xfrm>
          <a:custGeom>
            <a:rect b="b" l="l" r="r" t="t"/>
            <a:pathLst>
              <a:path extrusionOk="0" h="6858000" w="4470288">
                <a:moveTo>
                  <a:pt x="2056333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2235144" y="6858000"/>
                </a:lnTo>
                <a:cubicBezTo>
                  <a:pt x="1000708" y="6858000"/>
                  <a:pt x="0" y="5857267"/>
                  <a:pt x="0" y="4622800"/>
                </a:cubicBezTo>
                <a:lnTo>
                  <a:pt x="0" y="2056384"/>
                </a:lnTo>
                <a:cubicBezTo>
                  <a:pt x="0" y="920674"/>
                  <a:pt x="920652" y="0"/>
                  <a:pt x="2056333" y="0"/>
                </a:cubicBezTo>
                <a:close/>
              </a:path>
            </a:pathLst>
          </a:custGeom>
          <a:solidFill>
            <a:srgbClr val="D2E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6199" y="558800"/>
            <a:ext cx="3860703" cy="57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